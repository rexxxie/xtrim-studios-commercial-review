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Director asked: we are busier than ever and there is less money in the bank. Where is it going, and is the ad spend doing anything? This deck answers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Everything after this slide is the evidence for one of these six 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was bad in ways the handover did not mention: the data dictionary is wrong in fifteen places. The dashboard shows the quarantine tile so anyone can see what was set aside.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in naira grew every year. But anything priced in dollars (cameras, lenses, software, travel) now costs roughly ten times as many naira as in January 2023. In dollar terms the studio earned less than half as much in 2024.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is the peak every year; Q1 is the trough. This chart ties exactly to SQL question 1 and to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is a snapshot from mid-2025. We read Invoiced as billed but not paid. If that holds, over a billion naira of 2023–2024 work has not been collected. This is the first thing to reconcile against the bank.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Carry: Commercial/TVC, Music Video, Wedding Film, Corporate Documentary. Cosmetic: Studio Rental. Photoshoot is busy work: 18.5% of jobs for 5.2% of revenue.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loss is 'genuine' if it survives removing crew double-bookings and pricing unknown day rates at half rate. 147 do. The 20 worst jobs are all genuine, mostly Studio Rental and Photoshoot with 4+ crew a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brief's formula the studio never runs out of crew. The strain shows up differently: the same people booked on two shoots in one day, concentrated in the peak, and 7.7% of shifts over 12 hours.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other way: had those clients been priced in naira at January 2023 levels, the studio would have lost ₦3.46B. Every naira-priced job lost that kind of value.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Refund reasons are spread out: changed mind 20.8%, then damaged and wrong size. Discount codes never lowered the price paid in the data, which finance should check.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Google, Meta and TikTok, ₦436M was spent while bookings crediting those platforms were worth ₦6.56B. If even 7% of those came from ads, the spend is justified; but nothing records paid vs organic. Tracking is broken: linked orders are a median 254 days from the visit.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Crew, ads and merch stock are the only costs in the data. The rest of the squeeze is outside these systems: dollar-priced equipment and software, rent, salaries, tax, and unpaid invoices.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first because it is money already earned. Pricing next. Test ads before cutting or scaling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one is the first: without the bank statement and the cost ledger, the cash story is inference.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run_pipeline.py rebuilds cleaning, warehouse, SQL answers, analysis, charts, memo and this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058400" cy="548640"/>
          </a:xfrm>
          <a:prstGeom prst="rect">
            <a:avLst/>
          </a:prstGeom>
          <a:noFill/>
        </p:spPr>
        <p:txBody>
          <a:bodyPr wrap="square" anchor="t" lIns="18288" rIns="18288" tIns="18288" bIns="18288">
            <a:spAutoFit/>
          </a:bodyPr>
          <a:lstStyle/>
          <a:p>
            <a:pPr algn="l"/>
            <a:r>
              <a:rPr sz="1600" b="1">
                <a:solidFill>
                  <a:srgbClr val="2A78D6"/>
                </a:solidFill>
                <a:latin typeface="Arial"/>
              </a:rPr>
              <a:t>XTRIM STUDIOS</a:t>
            </a:r>
          </a:p>
        </p:txBody>
      </p:sp>
      <p:sp>
        <p:nvSpPr>
          <p:cNvPr id="4" name="TextBox 3"/>
          <p:cNvSpPr txBox="1"/>
          <p:nvPr/>
        </p:nvSpPr>
        <p:spPr>
          <a:xfrm>
            <a:off x="914400" y="2377440"/>
            <a:ext cx="10058400" cy="1280160"/>
          </a:xfrm>
          <a:prstGeom prst="rect">
            <a:avLst/>
          </a:prstGeom>
          <a:noFill/>
        </p:spPr>
        <p:txBody>
          <a:bodyPr wrap="square" anchor="t" lIns="18288" rIns="18288" tIns="18288" bIns="18288">
            <a:spAutoFit/>
          </a:bodyPr>
          <a:lstStyle/>
          <a:p>
            <a:pPr algn="l"/>
            <a:r>
              <a:rPr sz="5400" b="1">
                <a:solidFill>
                  <a:srgbClr val="0B0B0B"/>
                </a:solidFill>
                <a:latin typeface="Arial"/>
              </a:rPr>
              <a:t>Where the money went</a:t>
            </a:r>
          </a:p>
        </p:txBody>
      </p:sp>
      <p:sp>
        <p:nvSpPr>
          <p:cNvPr id="5" name="TextBox 4"/>
          <p:cNvSpPr txBox="1"/>
          <p:nvPr/>
        </p:nvSpPr>
        <p:spPr>
          <a:xfrm>
            <a:off x="914400" y="3520440"/>
            <a:ext cx="10058400" cy="914400"/>
          </a:xfrm>
          <a:prstGeom prst="rect">
            <a:avLst/>
          </a:prstGeom>
          <a:noFill/>
        </p:spPr>
        <p:txBody>
          <a:bodyPr wrap="square" anchor="t" lIns="18288" rIns="18288" tIns="18288" bIns="18288">
            <a:spAutoFit/>
          </a:bodyPr>
          <a:lstStyle/>
          <a:p>
            <a:pPr algn="l"/>
            <a:r>
              <a:rPr sz="2000" b="0">
                <a:solidFill>
                  <a:srgbClr val="52514E"/>
                </a:solidFill>
                <a:latin typeface="Arial"/>
              </a:rPr>
              <a:t>Commercial performance review · production, merch and advertising · January 2023 – June 2025</a:t>
            </a:r>
          </a:p>
        </p:txBody>
      </p:sp>
      <p:sp>
        <p:nvSpPr>
          <p:cNvPr id="6" name="TextBox 5"/>
          <p:cNvSpPr txBox="1"/>
          <p:nvPr/>
        </p:nvSpPr>
        <p:spPr>
          <a:xfrm>
            <a:off x="914400" y="5669280"/>
            <a:ext cx="10058400" cy="457200"/>
          </a:xfrm>
          <a:prstGeom prst="rect">
            <a:avLst/>
          </a:prstGeom>
          <a:noFill/>
        </p:spPr>
        <p:txBody>
          <a:bodyPr wrap="square" anchor="t" lIns="18288" rIns="18288" tIns="18288" bIns="18288">
            <a:spAutoFit/>
          </a:bodyPr>
          <a:lstStyle/>
          <a:p>
            <a:pPr algn="l"/>
            <a:r>
              <a:rPr sz="1300" b="0">
                <a:solidFill>
                  <a:srgbClr val="898781"/>
                </a:solidFill>
                <a:latin typeface="Arial"/>
              </a:rPr>
              <a:t>Prepared for the Studio Director · 14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The answer in six sentences</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Each one carries a number you can check in the appendix.</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2</a:t>
            </a:r>
          </a:p>
        </p:txBody>
      </p:sp>
      <p:sp>
        <p:nvSpPr>
          <p:cNvPr id="7" name="Oval 6"/>
          <p:cNvSpPr/>
          <p:nvPr/>
        </p:nvSpPr>
        <p:spPr>
          <a:xfrm>
            <a:off x="548640" y="1591056"/>
            <a:ext cx="384048" cy="384048"/>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CFCFB"/>
                </a:solidFill>
                <a:latin typeface="Arial"/>
              </a:rPr>
              <a:t>1</a:t>
            </a:r>
          </a:p>
        </p:txBody>
      </p:sp>
      <p:sp>
        <p:nvSpPr>
          <p:cNvPr id="8" name="TextBox 7"/>
          <p:cNvSpPr txBox="1"/>
          <p:nvPr/>
        </p:nvSpPr>
        <p:spPr>
          <a:xfrm>
            <a:off x="1097280" y="1554480"/>
            <a:ext cx="10515600" cy="777240"/>
          </a:xfrm>
          <a:prstGeom prst="rect">
            <a:avLst/>
          </a:prstGeom>
          <a:noFill/>
        </p:spPr>
        <p:txBody>
          <a:bodyPr wrap="square" anchor="t" lIns="18288" rIns="18288" tIns="18288" bIns="18288">
            <a:spAutoFit/>
          </a:bodyPr>
          <a:lstStyle/>
          <a:p>
            <a:pPr algn="l"/>
            <a:r>
              <a:rPr sz="1450" b="0">
                <a:solidFill>
                  <a:srgbClr val="0B0B0B"/>
                </a:solidFill>
                <a:latin typeface="Arial"/>
              </a:rPr>
              <a:t>Revenue grew 31% in naira, from ₦7.07B in 2023 to ₦9.24B in 2024, but the dollar went from an average of ₦895 to ₦2,492, so that revenue was worth $8.0M in 2023 and only $3.6M in 2024.</a:t>
            </a:r>
          </a:p>
        </p:txBody>
      </p:sp>
      <p:sp>
        <p:nvSpPr>
          <p:cNvPr id="9" name="Oval 8"/>
          <p:cNvSpPr/>
          <p:nvPr/>
        </p:nvSpPr>
        <p:spPr>
          <a:xfrm>
            <a:off x="548640" y="2386584"/>
            <a:ext cx="384048" cy="384048"/>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CFCFB"/>
                </a:solidFill>
                <a:latin typeface="Arial"/>
              </a:rPr>
              <a:t>2</a:t>
            </a:r>
          </a:p>
        </p:txBody>
      </p:sp>
      <p:sp>
        <p:nvSpPr>
          <p:cNvPr id="10" name="TextBox 9"/>
          <p:cNvSpPr txBox="1"/>
          <p:nvPr/>
        </p:nvSpPr>
        <p:spPr>
          <a:xfrm>
            <a:off x="1097280" y="2350008"/>
            <a:ext cx="10515600" cy="777240"/>
          </a:xfrm>
          <a:prstGeom prst="rect">
            <a:avLst/>
          </a:prstGeom>
          <a:noFill/>
        </p:spPr>
        <p:txBody>
          <a:bodyPr wrap="square" anchor="t" lIns="18288" rIns="18288" tIns="18288" bIns="18288">
            <a:spAutoFit/>
          </a:bodyPr>
          <a:lstStyle/>
          <a:p>
            <a:pPr algn="l"/>
            <a:r>
              <a:rPr sz="1450" b="0">
                <a:solidFill>
                  <a:srgbClr val="0B0B0B"/>
                </a:solidFill>
                <a:latin typeface="Arial"/>
              </a:rPr>
              <a:t>₦5.96B (30%) of the production work booked since January 2023 had not reached Completed when the data was exported, including ₦1.60B on 175 jobs from 2023–2024 still marked Invoiced.</a:t>
            </a:r>
          </a:p>
        </p:txBody>
      </p:sp>
      <p:sp>
        <p:nvSpPr>
          <p:cNvPr id="11" name="Oval 10"/>
          <p:cNvSpPr/>
          <p:nvPr/>
        </p:nvSpPr>
        <p:spPr>
          <a:xfrm>
            <a:off x="548640" y="3182112"/>
            <a:ext cx="384048" cy="384048"/>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CFCFB"/>
                </a:solidFill>
                <a:latin typeface="Arial"/>
              </a:rPr>
              <a:t>3</a:t>
            </a:r>
          </a:p>
        </p:txBody>
      </p:sp>
      <p:sp>
        <p:nvSpPr>
          <p:cNvPr id="12" name="TextBox 11"/>
          <p:cNvSpPr txBox="1"/>
          <p:nvPr/>
        </p:nvSpPr>
        <p:spPr>
          <a:xfrm>
            <a:off x="1097280" y="3145536"/>
            <a:ext cx="10515600" cy="777240"/>
          </a:xfrm>
          <a:prstGeom prst="rect">
            <a:avLst/>
          </a:prstGeom>
          <a:noFill/>
        </p:spPr>
        <p:txBody>
          <a:bodyPr wrap="square" anchor="t" lIns="18288" rIns="18288" tIns="18288" bIns="18288">
            <a:spAutoFit/>
          </a:bodyPr>
          <a:lstStyle/>
          <a:p>
            <a:pPr algn="l"/>
            <a:r>
              <a:rPr sz="1450" b="0">
                <a:solidFill>
                  <a:srgbClr val="0B0B0B"/>
                </a:solidFill>
                <a:latin typeface="Arial"/>
              </a:rPr>
              <a:t>Postponed work has more than doubled, from 5.9% of revenue in 2023 to 13.8% in the first half of 2025.</a:t>
            </a:r>
          </a:p>
        </p:txBody>
      </p:sp>
      <p:sp>
        <p:nvSpPr>
          <p:cNvPr id="13" name="Oval 12"/>
          <p:cNvSpPr/>
          <p:nvPr/>
        </p:nvSpPr>
        <p:spPr>
          <a:xfrm>
            <a:off x="548640" y="3977640"/>
            <a:ext cx="384048" cy="384048"/>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CFCFB"/>
                </a:solidFill>
                <a:latin typeface="Arial"/>
              </a:rPr>
              <a:t>4</a:t>
            </a:r>
          </a:p>
        </p:txBody>
      </p:sp>
      <p:sp>
        <p:nvSpPr>
          <p:cNvPr id="14" name="TextBox 13"/>
          <p:cNvSpPr txBox="1"/>
          <p:nvPr/>
        </p:nvSpPr>
        <p:spPr>
          <a:xfrm>
            <a:off x="1097280" y="3941064"/>
            <a:ext cx="10515600" cy="777240"/>
          </a:xfrm>
          <a:prstGeom prst="rect">
            <a:avLst/>
          </a:prstGeom>
          <a:noFill/>
        </p:spPr>
        <p:txBody>
          <a:bodyPr wrap="square" anchor="t" lIns="18288" rIns="18288" tIns="18288" bIns="18288">
            <a:spAutoFit/>
          </a:bodyPr>
          <a:lstStyle/>
          <a:p>
            <a:pPr algn="l"/>
            <a:r>
              <a:rPr sz="1450" b="0">
                <a:solidFill>
                  <a:srgbClr val="0B0B0B"/>
                </a:solidFill>
                <a:latin typeface="Arial"/>
              </a:rPr>
              <a:t>Studio Rental loses money on crew cost alone (-5.3% margin; 83 of 186 jobs), and across the business 182 jobs cost ₦140M more in crew than they earned.</a:t>
            </a:r>
          </a:p>
        </p:txBody>
      </p:sp>
      <p:sp>
        <p:nvSpPr>
          <p:cNvPr id="15" name="Oval 14"/>
          <p:cNvSpPr/>
          <p:nvPr/>
        </p:nvSpPr>
        <p:spPr>
          <a:xfrm>
            <a:off x="548640" y="4773168"/>
            <a:ext cx="384048" cy="384048"/>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CFCFB"/>
                </a:solidFill>
                <a:latin typeface="Arial"/>
              </a:rPr>
              <a:t>5</a:t>
            </a:r>
          </a:p>
        </p:txBody>
      </p:sp>
      <p:sp>
        <p:nvSpPr>
          <p:cNvPr id="16" name="TextBox 15"/>
          <p:cNvSpPr txBox="1"/>
          <p:nvPr/>
        </p:nvSpPr>
        <p:spPr>
          <a:xfrm>
            <a:off x="1097280" y="4736592"/>
            <a:ext cx="10515600" cy="777240"/>
          </a:xfrm>
          <a:prstGeom prst="rect">
            <a:avLst/>
          </a:prstGeom>
          <a:noFill/>
        </p:spPr>
        <p:txBody>
          <a:bodyPr wrap="square" anchor="t" lIns="18288" rIns="18288" tIns="18288" bIns="18288">
            <a:spAutoFit/>
          </a:bodyPr>
          <a:lstStyle/>
          <a:p>
            <a:pPr algn="l"/>
            <a:r>
              <a:rPr sz="1450" b="0">
                <a:solidFill>
                  <a:srgbClr val="0B0B0B"/>
                </a:solidFill>
                <a:latin typeface="Arial"/>
              </a:rPr>
              <a:t>The ₦860M spent on ads brought back ₦0.35 of tracked web-shop revenue per ₦1; they pay for themselves only if at least 6.7% of the ₦6.56B of bookings credited to Google, Instagram and TikTok came from a paid ad, and no system records whether they did.</a:t>
            </a:r>
          </a:p>
        </p:txBody>
      </p:sp>
      <p:sp>
        <p:nvSpPr>
          <p:cNvPr id="17" name="Oval 16"/>
          <p:cNvSpPr/>
          <p:nvPr/>
        </p:nvSpPr>
        <p:spPr>
          <a:xfrm>
            <a:off x="548640" y="5568696"/>
            <a:ext cx="384048" cy="384048"/>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CFCFB"/>
                </a:solidFill>
                <a:latin typeface="Arial"/>
              </a:rPr>
              <a:t>6</a:t>
            </a:r>
          </a:p>
        </p:txBody>
      </p:sp>
      <p:sp>
        <p:nvSpPr>
          <p:cNvPr id="18" name="TextBox 17"/>
          <p:cNvSpPr txBox="1"/>
          <p:nvPr/>
        </p:nvSpPr>
        <p:spPr>
          <a:xfrm>
            <a:off x="1097280" y="5532120"/>
            <a:ext cx="10515600" cy="777240"/>
          </a:xfrm>
          <a:prstGeom prst="rect">
            <a:avLst/>
          </a:prstGeom>
          <a:noFill/>
        </p:spPr>
        <p:txBody>
          <a:bodyPr wrap="square" anchor="t" lIns="18288" rIns="18288" tIns="18288" bIns="18288">
            <a:spAutoFit/>
          </a:bodyPr>
          <a:lstStyle/>
          <a:p>
            <a:pPr algn="l"/>
            <a:r>
              <a:rPr sz="1450" b="0">
                <a:solidFill>
                  <a:srgbClr val="0B0B0B"/>
                </a:solidFill>
                <a:latin typeface="Arial"/>
              </a:rPr>
              <a:t>Crew, ads and merch stock take only 17.1% of 2024 revenue, so the missing cash sits in what these systems do not record (dollar-priced kit and software, rent, salaries, tax) and in unpaid invoices, which is where finance should look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What we worked with, and what we threw away</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Fourteen exports from five systems. Nothing was deleted; every rejected row is kept with a reason.</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3</a:t>
            </a:r>
          </a:p>
        </p:txBody>
      </p:sp>
      <p:sp>
        <p:nvSpPr>
          <p:cNvPr id="7" name="Rounded Rectangle 6"/>
          <p:cNvSpPr/>
          <p:nvPr/>
        </p:nvSpPr>
        <p:spPr>
          <a:xfrm>
            <a:off x="548640" y="1645920"/>
            <a:ext cx="3291840" cy="137160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73936"/>
            <a:ext cx="2926080" cy="566928"/>
          </a:xfrm>
          <a:prstGeom prst="rect">
            <a:avLst/>
          </a:prstGeom>
          <a:noFill/>
        </p:spPr>
        <p:txBody>
          <a:bodyPr wrap="square" anchor="t" lIns="18288" rIns="18288" tIns="18288" bIns="18288">
            <a:spAutoFit/>
          </a:bodyPr>
          <a:lstStyle/>
          <a:p>
            <a:pPr algn="l"/>
            <a:r>
              <a:rPr sz="2800" b="1">
                <a:solidFill>
                  <a:srgbClr val="0B0B0B"/>
                </a:solidFill>
                <a:latin typeface="Arial"/>
              </a:rPr>
              <a:t>282,171</a:t>
            </a:r>
          </a:p>
        </p:txBody>
      </p:sp>
      <p:sp>
        <p:nvSpPr>
          <p:cNvPr id="9" name="TextBox 8"/>
          <p:cNvSpPr txBox="1"/>
          <p:nvPr/>
        </p:nvSpPr>
        <p:spPr>
          <a:xfrm>
            <a:off x="731520" y="2359152"/>
            <a:ext cx="2926080" cy="594360"/>
          </a:xfrm>
          <a:prstGeom prst="rect">
            <a:avLst/>
          </a:prstGeom>
          <a:noFill/>
        </p:spPr>
        <p:txBody>
          <a:bodyPr wrap="square" anchor="t" lIns="18288" rIns="18288" tIns="18288" bIns="18288">
            <a:spAutoFit/>
          </a:bodyPr>
          <a:lstStyle/>
          <a:p>
            <a:pPr algn="l"/>
            <a:r>
              <a:rPr sz="1200" b="0">
                <a:solidFill>
                  <a:srgbClr val="52514E"/>
                </a:solidFill>
                <a:latin typeface="Arial"/>
              </a:rPr>
              <a:t>raw rows across 14 files</a:t>
            </a:r>
          </a:p>
        </p:txBody>
      </p:sp>
      <p:sp>
        <p:nvSpPr>
          <p:cNvPr id="10" name="Rounded Rectangle 9"/>
          <p:cNvSpPr/>
          <p:nvPr/>
        </p:nvSpPr>
        <p:spPr>
          <a:xfrm>
            <a:off x="548640" y="3182112"/>
            <a:ext cx="3291840" cy="137160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310128"/>
            <a:ext cx="2926080" cy="566928"/>
          </a:xfrm>
          <a:prstGeom prst="rect">
            <a:avLst/>
          </a:prstGeom>
          <a:noFill/>
        </p:spPr>
        <p:txBody>
          <a:bodyPr wrap="square" anchor="t" lIns="18288" rIns="18288" tIns="18288" bIns="18288">
            <a:spAutoFit/>
          </a:bodyPr>
          <a:lstStyle/>
          <a:p>
            <a:pPr algn="l"/>
            <a:r>
              <a:rPr sz="2800" b="1">
                <a:solidFill>
                  <a:srgbClr val="0B0B0B"/>
                </a:solidFill>
                <a:latin typeface="Arial"/>
              </a:rPr>
              <a:t>2,445</a:t>
            </a:r>
          </a:p>
        </p:txBody>
      </p:sp>
      <p:sp>
        <p:nvSpPr>
          <p:cNvPr id="12" name="TextBox 11"/>
          <p:cNvSpPr txBox="1"/>
          <p:nvPr/>
        </p:nvSpPr>
        <p:spPr>
          <a:xfrm>
            <a:off x="731520" y="3895344"/>
            <a:ext cx="2926080" cy="594360"/>
          </a:xfrm>
          <a:prstGeom prst="rect">
            <a:avLst/>
          </a:prstGeom>
          <a:noFill/>
        </p:spPr>
        <p:txBody>
          <a:bodyPr wrap="square" anchor="t" lIns="18288" rIns="18288" tIns="18288" bIns="18288">
            <a:spAutoFit/>
          </a:bodyPr>
          <a:lstStyle/>
          <a:p>
            <a:pPr algn="l"/>
            <a:r>
              <a:rPr sz="1200" b="0">
                <a:solidFill>
                  <a:srgbClr val="52514E"/>
                </a:solidFill>
                <a:latin typeface="Arial"/>
              </a:rPr>
              <a:t>rows quarantined (0.87%), none deleted</a:t>
            </a:r>
          </a:p>
        </p:txBody>
      </p:sp>
      <p:sp>
        <p:nvSpPr>
          <p:cNvPr id="13" name="Rounded Rectangle 12"/>
          <p:cNvSpPr/>
          <p:nvPr/>
        </p:nvSpPr>
        <p:spPr>
          <a:xfrm>
            <a:off x="548640" y="4718304"/>
            <a:ext cx="3291840" cy="137160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846320"/>
            <a:ext cx="2926080" cy="566928"/>
          </a:xfrm>
          <a:prstGeom prst="rect">
            <a:avLst/>
          </a:prstGeom>
          <a:noFill/>
        </p:spPr>
        <p:txBody>
          <a:bodyPr wrap="square" anchor="t" lIns="18288" rIns="18288" tIns="18288" bIns="18288">
            <a:spAutoFit/>
          </a:bodyPr>
          <a:lstStyle/>
          <a:p>
            <a:pPr algn="l"/>
            <a:r>
              <a:rPr sz="2800" b="1">
                <a:solidFill>
                  <a:srgbClr val="0B0B0B"/>
                </a:solidFill>
                <a:latin typeface="Arial"/>
              </a:rPr>
              <a:t>6.9%</a:t>
            </a:r>
          </a:p>
        </p:txBody>
      </p:sp>
      <p:sp>
        <p:nvSpPr>
          <p:cNvPr id="15" name="TextBox 14"/>
          <p:cNvSpPr txBox="1"/>
          <p:nvPr/>
        </p:nvSpPr>
        <p:spPr>
          <a:xfrm>
            <a:off x="731520" y="5431536"/>
            <a:ext cx="2926080" cy="594360"/>
          </a:xfrm>
          <a:prstGeom prst="rect">
            <a:avLst/>
          </a:prstGeom>
          <a:noFill/>
        </p:spPr>
        <p:txBody>
          <a:bodyPr wrap="square" anchor="t" lIns="18288" rIns="18288" tIns="18288" bIns="18288">
            <a:spAutoFit/>
          </a:bodyPr>
          <a:lstStyle/>
          <a:p>
            <a:pPr algn="l"/>
            <a:r>
              <a:rPr sz="1200" b="0">
                <a:solidFill>
                  <a:srgbClr val="52514E"/>
                </a:solidFill>
                <a:latin typeface="Arial"/>
              </a:rPr>
              <a:t>of revenue (₦1.44B) touched by issues we could not resolve</a:t>
            </a:r>
          </a:p>
        </p:txBody>
      </p:sp>
      <p:sp>
        <p:nvSpPr>
          <p:cNvPr id="16" name="TextBox 15"/>
          <p:cNvSpPr txBox="1"/>
          <p:nvPr/>
        </p:nvSpPr>
        <p:spPr>
          <a:xfrm>
            <a:off x="4297680" y="1645920"/>
            <a:ext cx="7315200" cy="365760"/>
          </a:xfrm>
          <a:prstGeom prst="rect">
            <a:avLst/>
          </a:prstGeom>
          <a:noFill/>
        </p:spPr>
        <p:txBody>
          <a:bodyPr wrap="square" anchor="t" lIns="18288" rIns="18288" tIns="18288" bIns="18288">
            <a:spAutoFit/>
          </a:bodyPr>
          <a:lstStyle/>
          <a:p>
            <a:pPr algn="l"/>
            <a:r>
              <a:rPr sz="1600" b="1">
                <a:solidFill>
                  <a:srgbClr val="0B0B0B"/>
                </a:solidFill>
                <a:latin typeface="Arial"/>
              </a:rPr>
              <a:t>What was wrong</a:t>
            </a:r>
          </a:p>
        </p:txBody>
      </p:sp>
      <p:sp>
        <p:nvSpPr>
          <p:cNvPr id="17" name="TextBox 16"/>
          <p:cNvSpPr txBox="1"/>
          <p:nvPr/>
        </p:nvSpPr>
        <p:spPr>
          <a:xfrm>
            <a:off x="4297680" y="2103120"/>
            <a:ext cx="7315200" cy="4114800"/>
          </a:xfrm>
          <a:prstGeom prst="rect">
            <a:avLst/>
          </a:prstGeom>
          <a:noFill/>
        </p:spPr>
        <p:txBody>
          <a:bodyPr wrap="square" anchor="t" lIns="18288" rIns="18288" tIns="18288" bIns="18288">
            <a:spAutoFit/>
          </a:bodyPr>
          <a:lstStyle/>
          <a:p>
            <a:pPr algn="l"/>
            <a:r>
              <a:rPr sz="1500" b="0">
                <a:solidFill>
                  <a:srgbClr val="0B0B0B"/>
                </a:solidFill>
                <a:latin typeface="Arial"/>
              </a:rPr>
              <a:t>•  15 statements in the data dictionary are false</a:t>
            </a:r>
          </a:p>
          <a:p>
            <a:pPr algn="l"/>
            <a:r>
              <a:rPr sz="1500" b="0">
                <a:solidFill>
                  <a:srgbClr val="0B0B0B"/>
                </a:solidFill>
                <a:latin typeface="Arial"/>
              </a:rPr>
              <a:t>•  2024 booking dates are month-first; 2023 are day-first</a:t>
            </a:r>
          </a:p>
          <a:p>
            <a:pPr algn="l"/>
            <a:r>
              <a:rPr sz="1500" b="0">
                <a:solidFill>
                  <a:srgbClr val="0B0B0B"/>
                </a:solidFill>
                <a:latin typeface="Arial"/>
              </a:rPr>
              <a:t>•  124 duplicate clients re-keyed under new IDs, 58 exact repeats</a:t>
            </a:r>
          </a:p>
          <a:p>
            <a:pPr algn="l"/>
            <a:r>
              <a:rPr sz="1500" b="0">
                <a:solidFill>
                  <a:srgbClr val="0B0B0B"/>
                </a:solidFill>
                <a:latin typeface="Arial"/>
              </a:rPr>
              <a:t>•  23,054 bot visits (11%) and a 5,200-visit spam burst in the web data</a:t>
            </a:r>
          </a:p>
          <a:p>
            <a:pPr algn="l"/>
            <a:r>
              <a:rPr sz="1500" b="0">
                <a:solidFill>
                  <a:srgbClr val="0B0B0B"/>
                </a:solidFill>
                <a:latin typeface="Arial"/>
              </a:rPr>
              <a:t>•  USD and GBP jobs never converted; now all naira at the daily rate</a:t>
            </a:r>
          </a:p>
          <a:p>
            <a:pPr algn="l"/>
            <a:r>
              <a:rPr sz="1500" b="0">
                <a:solidFill>
                  <a:srgbClr val="0B0B0B"/>
                </a:solidFill>
                <a:latin typeface="Arial"/>
              </a:rPr>
              <a:t>•  Price history with 29 overlapping windows, resolved and enforced by the database</a:t>
            </a:r>
          </a:p>
          <a:p>
            <a:pPr algn="l"/>
            <a:r>
              <a:rPr sz="1500" b="0">
                <a:solidFill>
                  <a:srgbClr val="0B0B0B"/>
                </a:solidFill>
                <a:latin typeface="Arial"/>
              </a:rPr>
              <a:t>•  319 timesheets for jobs that don't exist; 129 shifts of 26 hours</a:t>
            </a:r>
          </a:p>
          <a:p>
            <a:pPr algn="l"/>
            <a:r>
              <a:rPr sz="1500" b="0">
                <a:solidFill>
                  <a:srgbClr val="0B0B0B"/>
                </a:solidFill>
                <a:latin typeface="Arial"/>
              </a:rPr>
              <a:t>•  115 jobs with no service type; kept as 'Unknown' because they couldn't be recovered reliably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Busier in naira, poorer in dollars</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The naira collapse turned real growth into a real-terms decline.</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4</a:t>
            </a:r>
          </a:p>
        </p:txBody>
      </p:sp>
      <p:pic>
        <p:nvPicPr>
          <p:cNvPr id="7" name="Picture 6" descr="02_naira_vs_dollar_revenue.png"/>
          <p:cNvPicPr>
            <a:picLocks noChangeAspect="1"/>
          </p:cNvPicPr>
          <p:nvPr/>
        </p:nvPicPr>
        <p:blipFill>
          <a:blip r:embed="rId3"/>
          <a:stretch>
            <a:fillRect/>
          </a:stretch>
        </p:blipFill>
        <p:spPr>
          <a:xfrm>
            <a:off x="548640" y="1554480"/>
            <a:ext cx="7955279" cy="3977639"/>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+31%</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revenue growth in naira, 2023 → 2024</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D03B3B"/>
                </a:solidFill>
                <a:latin typeface="Arial"/>
              </a:rPr>
              <a:t>−56%</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the same revenue in dollars</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D03B3B"/>
                </a:solidFill>
                <a:latin typeface="Arial"/>
              </a:rPr>
              <a:t>90%</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value the naira lost against the dollar (₦465 → ₦4,731)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Production carries the business</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Revenue by quarter, production and merch.</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5</a:t>
            </a:r>
          </a:p>
        </p:txBody>
      </p:sp>
      <p:pic>
        <p:nvPicPr>
          <p:cNvPr id="7" name="Picture 6" descr="01_revenue_by_quarter.png"/>
          <p:cNvPicPr>
            <a:picLocks noChangeAspect="1"/>
          </p:cNvPicPr>
          <p:nvPr/>
        </p:nvPicPr>
        <p:blipFill>
          <a:blip r:embed="rId3"/>
          <a:stretch>
            <a:fillRect/>
          </a:stretch>
        </p:blipFill>
        <p:spPr>
          <a:xfrm>
            <a:off x="548640" y="1554480"/>
            <a:ext cx="7955279" cy="4136745"/>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₦21.02B</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total revenue, Jan 2023 – Jun 2025</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6.6%</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revenue from merch</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+49%</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H1 2025 vs H1 2024, in naira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Booked is not banked</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Almost a third of production revenue is in jobs that are not complete.</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6</a:t>
            </a:r>
          </a:p>
        </p:txBody>
      </p:sp>
      <p:pic>
        <p:nvPicPr>
          <p:cNvPr id="7" name="Picture 6" descr="09_postponed_share.png"/>
          <p:cNvPicPr>
            <a:picLocks noChangeAspect="1"/>
          </p:cNvPicPr>
          <p:nvPr/>
        </p:nvPicPr>
        <p:blipFill>
          <a:blip r:embed="rId3"/>
          <a:stretch>
            <a:fillRect/>
          </a:stretch>
        </p:blipFill>
        <p:spPr>
          <a:xfrm>
            <a:off x="548640" y="1554480"/>
            <a:ext cx="7955278" cy="4242815"/>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₦5.96B</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(30%) invoiced, in production, postponed or no status</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D03B3B"/>
                </a:solidFill>
                <a:latin typeface="Arial"/>
              </a:rPr>
              <a:t>₦1.60B</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on 175 jobs from 2023–2024 still marked Invoiced</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13.8%</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H1 2025 revenue postponed, up from 5.9% in 2023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Two service lines earn half the money</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Share of revenue vs share of jobs.</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7</a:t>
            </a:r>
          </a:p>
        </p:txBody>
      </p:sp>
      <p:pic>
        <p:nvPicPr>
          <p:cNvPr id="7" name="Picture 6" descr="03_service_share.png"/>
          <p:cNvPicPr>
            <a:picLocks noChangeAspect="1"/>
          </p:cNvPicPr>
          <p:nvPr/>
        </p:nvPicPr>
        <p:blipFill>
          <a:blip r:embed="rId3"/>
          <a:stretch>
            <a:fillRect/>
          </a:stretch>
        </p:blipFill>
        <p:spPr>
          <a:xfrm>
            <a:off x="548640" y="1554480"/>
            <a:ext cx="7955279" cy="4454956"/>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51%</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revenue from Commercial / TVC and Music Video, 21% of jobs</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423</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wedding jobs, the most of any line, but 13% of revenue</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1.1%</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revenue from Studio Rental, 9% of jobs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Some jobs cost more in crew than they earn</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Margin after crew day rates, by service line.</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8</a:t>
            </a:r>
          </a:p>
        </p:txBody>
      </p:sp>
      <p:pic>
        <p:nvPicPr>
          <p:cNvPr id="7" name="Picture 6" descr="04_margin_by_service.png"/>
          <p:cNvPicPr>
            <a:picLocks noChangeAspect="1"/>
          </p:cNvPicPr>
          <p:nvPr/>
        </p:nvPicPr>
        <p:blipFill>
          <a:blip r:embed="rId3"/>
          <a:stretch>
            <a:fillRect/>
          </a:stretch>
        </p:blipFill>
        <p:spPr>
          <a:xfrm>
            <a:off x="548640" y="1554480"/>
            <a:ext cx="7955279" cy="4454956"/>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D03B3B"/>
                </a:solidFill>
                <a:latin typeface="Arial"/>
              </a:rPr>
              <a:t>-5.3%</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Studio Rental margin; 83 of 186 jobs lose money</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182</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loss-making jobs, ₦140M lost in total</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147 / 35</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genuine losses / losses explained by bad timesheet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Capacity breaks in November and December</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Crew logged on two jobs on the same day, by month.</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9</a:t>
            </a:r>
          </a:p>
        </p:txBody>
      </p:sp>
      <p:pic>
        <p:nvPicPr>
          <p:cNvPr id="7" name="Picture 6" descr="06_double_bookings.png"/>
          <p:cNvPicPr>
            <a:picLocks noChangeAspect="1"/>
          </p:cNvPicPr>
          <p:nvPr/>
        </p:nvPicPr>
        <p:blipFill>
          <a:blip r:embed="rId3"/>
          <a:stretch>
            <a:fillRect/>
          </a:stretch>
        </p:blipFill>
        <p:spPr>
          <a:xfrm>
            <a:off x="548640" y="1554480"/>
            <a:ext cx="7955279" cy="4136745"/>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0</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weeks above 85% crew utilisation (peak 20%)</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824</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crew-days booked on two jobs at once</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33%</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those in November and December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Dollar and pound jobs held their value</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Foreign jobs valued at the shoot-date rate vs the 1 January 2023 rate.</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10</a:t>
            </a:r>
          </a:p>
        </p:txBody>
      </p:sp>
      <p:pic>
        <p:nvPicPr>
          <p:cNvPr id="7" name="Picture 6" descr="08_fx_gain.png"/>
          <p:cNvPicPr>
            <a:picLocks noChangeAspect="1"/>
          </p:cNvPicPr>
          <p:nvPr/>
        </p:nvPicPr>
        <p:blipFill>
          <a:blip r:embed="rId3"/>
          <a:stretch>
            <a:fillRect/>
          </a:stretch>
        </p:blipFill>
        <p:spPr>
          <a:xfrm>
            <a:off x="548640" y="1554480"/>
            <a:ext cx="7955278" cy="4419599"/>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₦3.46B</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extra naira on 316 USD/GBP jobs from devaluation</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79%</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those jobs' naira value is pure exchange rate</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39%</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rates used were gap-filled (weekend or missing days)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Merch is healthy, but small</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Contribution after refunds and cost of goods, by collection.</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11</a:t>
            </a:r>
          </a:p>
        </p:txBody>
      </p:sp>
      <p:pic>
        <p:nvPicPr>
          <p:cNvPr id="7" name="Picture 6" descr="10_merch_collections.png"/>
          <p:cNvPicPr>
            <a:picLocks noChangeAspect="1"/>
          </p:cNvPicPr>
          <p:nvPr/>
        </p:nvPicPr>
        <p:blipFill>
          <a:blip r:embed="rId3"/>
          <a:stretch>
            <a:fillRect/>
          </a:stretch>
        </p:blipFill>
        <p:spPr>
          <a:xfrm>
            <a:off x="548640" y="1554480"/>
            <a:ext cx="7955279" cy="4136745"/>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₦846M</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merch contribution (61% of net revenue)</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0</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collections (drops) that lost money</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9.5%</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refund rate; no SKU above 2x (highest 1.31x)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Ads do not pay back through the web shop</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Spend vs revenue the website tracked, by channel.</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12</a:t>
            </a:r>
          </a:p>
        </p:txBody>
      </p:sp>
      <p:pic>
        <p:nvPicPr>
          <p:cNvPr id="7" name="Picture 6" descr="12_channel_spend_vs_revenue.png"/>
          <p:cNvPicPr>
            <a:picLocks noChangeAspect="1"/>
          </p:cNvPicPr>
          <p:nvPr/>
        </p:nvPicPr>
        <p:blipFill>
          <a:blip r:embed="rId3"/>
          <a:stretch>
            <a:fillRect/>
          </a:stretch>
        </p:blipFill>
        <p:spPr>
          <a:xfrm>
            <a:off x="548640" y="1554480"/>
            <a:ext cx="7955279" cy="4136745"/>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D03B3B"/>
                </a:solidFill>
                <a:latin typeface="Arial"/>
              </a:rPr>
              <a:t>₦0.35</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tracked web revenue per ₦1 of paid ads</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6.7%</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₦6.56B social-sourced bookings ads must drive to break even</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68%</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of recorded sales link to a real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Where each naira went</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Recorded costs take under a quarter of revenue.</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13</a:t>
            </a:r>
          </a:p>
        </p:txBody>
      </p:sp>
      <p:pic>
        <p:nvPicPr>
          <p:cNvPr id="7" name="Picture 6" descr="13_where_the_money_went.png"/>
          <p:cNvPicPr>
            <a:picLocks noChangeAspect="1"/>
          </p:cNvPicPr>
          <p:nvPr/>
        </p:nvPicPr>
        <p:blipFill>
          <a:blip r:embed="rId3"/>
          <a:stretch>
            <a:fillRect/>
          </a:stretch>
        </p:blipFill>
        <p:spPr>
          <a:xfrm>
            <a:off x="548640" y="1554480"/>
            <a:ext cx="7955279" cy="3655450"/>
          </a:xfrm>
          <a:prstGeom prst="rect">
            <a:avLst/>
          </a:prstGeom>
        </p:spPr>
      </p:pic>
      <p:sp>
        <p:nvSpPr>
          <p:cNvPr id="8" name="Rounded Rectangle 7"/>
          <p:cNvSpPr/>
          <p:nvPr/>
        </p:nvSpPr>
        <p:spPr>
          <a:xfrm>
            <a:off x="8732520" y="1600200"/>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728216"/>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21.7%</a:t>
            </a:r>
          </a:p>
        </p:txBody>
      </p:sp>
      <p:sp>
        <p:nvSpPr>
          <p:cNvPr id="10" name="TextBox 9"/>
          <p:cNvSpPr txBox="1"/>
          <p:nvPr/>
        </p:nvSpPr>
        <p:spPr>
          <a:xfrm>
            <a:off x="8915400" y="2313432"/>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recorded costs ÷ revenue, 2023</a:t>
            </a:r>
          </a:p>
        </p:txBody>
      </p:sp>
      <p:sp>
        <p:nvSpPr>
          <p:cNvPr id="11" name="Rounded Rectangle 10"/>
          <p:cNvSpPr/>
          <p:nvPr/>
        </p:nvSpPr>
        <p:spPr>
          <a:xfrm>
            <a:off x="8732520" y="3182112"/>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3310128"/>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17.1%</a:t>
            </a:r>
          </a:p>
        </p:txBody>
      </p:sp>
      <p:sp>
        <p:nvSpPr>
          <p:cNvPr id="13" name="TextBox 12"/>
          <p:cNvSpPr txBox="1"/>
          <p:nvPr/>
        </p:nvSpPr>
        <p:spPr>
          <a:xfrm>
            <a:off x="8915400" y="3895344"/>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recorded costs ÷ revenue, 2024</a:t>
            </a:r>
          </a:p>
        </p:txBody>
      </p:sp>
      <p:sp>
        <p:nvSpPr>
          <p:cNvPr id="14" name="Rounded Rectangle 13"/>
          <p:cNvSpPr/>
          <p:nvPr/>
        </p:nvSpPr>
        <p:spPr>
          <a:xfrm>
            <a:off x="8732520" y="4764024"/>
            <a:ext cx="2926080" cy="1417320"/>
          </a:xfrm>
          <a:prstGeom prst="roundRect">
            <a:avLst>
              <a:gd name="adj" fmla="val 8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892040"/>
            <a:ext cx="2560320" cy="566928"/>
          </a:xfrm>
          <a:prstGeom prst="rect">
            <a:avLst/>
          </a:prstGeom>
          <a:noFill/>
        </p:spPr>
        <p:txBody>
          <a:bodyPr wrap="square" anchor="t" lIns="18288" rIns="18288" tIns="18288" bIns="18288">
            <a:spAutoFit/>
          </a:bodyPr>
          <a:lstStyle/>
          <a:p>
            <a:pPr algn="l"/>
            <a:r>
              <a:rPr sz="2800" b="1">
                <a:solidFill>
                  <a:srgbClr val="0B0B0B"/>
                </a:solidFill>
                <a:latin typeface="Arial"/>
              </a:rPr>
              <a:t>13.8%</a:t>
            </a:r>
          </a:p>
        </p:txBody>
      </p:sp>
      <p:sp>
        <p:nvSpPr>
          <p:cNvPr id="16" name="TextBox 15"/>
          <p:cNvSpPr txBox="1"/>
          <p:nvPr/>
        </p:nvSpPr>
        <p:spPr>
          <a:xfrm>
            <a:off x="8915400" y="5477256"/>
            <a:ext cx="2560320" cy="640080"/>
          </a:xfrm>
          <a:prstGeom prst="rect">
            <a:avLst/>
          </a:prstGeom>
          <a:noFill/>
        </p:spPr>
        <p:txBody>
          <a:bodyPr wrap="square" anchor="t" lIns="18288" rIns="18288" tIns="18288" bIns="18288">
            <a:spAutoFit/>
          </a:bodyPr>
          <a:lstStyle/>
          <a:p>
            <a:pPr algn="l"/>
            <a:r>
              <a:rPr sz="1200" b="0">
                <a:solidFill>
                  <a:srgbClr val="52514E"/>
                </a:solidFill>
                <a:latin typeface="Arial"/>
              </a:rPr>
              <a:t>recorded costs ÷ revenue, H1 2025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What to do</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Five moves, in order of how fast they put cash back.</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14</a:t>
            </a:r>
          </a:p>
        </p:txBody>
      </p:sp>
      <p:sp>
        <p:nvSpPr>
          <p:cNvPr id="7" name="Rounded Rectangle 6"/>
          <p:cNvSpPr/>
          <p:nvPr/>
        </p:nvSpPr>
        <p:spPr>
          <a:xfrm>
            <a:off x="548640" y="1600200"/>
            <a:ext cx="11064240" cy="896112"/>
          </a:xfrm>
          <a:prstGeom prst="roundRect">
            <a:avLst>
              <a:gd name="adj" fmla="val 12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457200" cy="713232"/>
          </a:xfrm>
          <a:prstGeom prst="rect">
            <a:avLst/>
          </a:prstGeom>
          <a:noFill/>
        </p:spPr>
        <p:txBody>
          <a:bodyPr wrap="square" anchor="ctr" lIns="18288" rIns="18288" tIns="18288" bIns="18288">
            <a:spAutoFit/>
          </a:bodyPr>
          <a:lstStyle/>
          <a:p>
            <a:pPr algn="l"/>
            <a:r>
              <a:rPr sz="2600" b="1">
                <a:solidFill>
                  <a:srgbClr val="2A78D6"/>
                </a:solidFill>
                <a:latin typeface="Arial"/>
              </a:rPr>
              <a:t>1</a:t>
            </a:r>
          </a:p>
        </p:txBody>
      </p:sp>
      <p:sp>
        <p:nvSpPr>
          <p:cNvPr id="9" name="TextBox 8"/>
          <p:cNvSpPr txBox="1"/>
          <p:nvPr/>
        </p:nvSpPr>
        <p:spPr>
          <a:xfrm>
            <a:off x="1325880" y="1673352"/>
            <a:ext cx="10058400" cy="320040"/>
          </a:xfrm>
          <a:prstGeom prst="rect">
            <a:avLst/>
          </a:prstGeom>
          <a:noFill/>
        </p:spPr>
        <p:txBody>
          <a:bodyPr wrap="square" anchor="t" lIns="18288" rIns="18288" tIns="18288" bIns="18288">
            <a:spAutoFit/>
          </a:bodyPr>
          <a:lstStyle/>
          <a:p>
            <a:pPr algn="l"/>
            <a:r>
              <a:rPr sz="1600" b="1">
                <a:solidFill>
                  <a:srgbClr val="0B0B0B"/>
                </a:solidFill>
                <a:latin typeface="Arial"/>
              </a:rPr>
              <a:t>Collect before you grow.</a:t>
            </a:r>
          </a:p>
        </p:txBody>
      </p:sp>
      <p:sp>
        <p:nvSpPr>
          <p:cNvPr id="10" name="TextBox 9"/>
          <p:cNvSpPr txBox="1"/>
          <p:nvPr/>
        </p:nvSpPr>
        <p:spPr>
          <a:xfrm>
            <a:off x="1325880" y="1984248"/>
            <a:ext cx="10058400" cy="475488"/>
          </a:xfrm>
          <a:prstGeom prst="rect">
            <a:avLst/>
          </a:prstGeom>
          <a:noFill/>
        </p:spPr>
        <p:txBody>
          <a:bodyPr wrap="square" anchor="t" lIns="18288" rIns="18288" tIns="18288" bIns="18288">
            <a:spAutoFit/>
          </a:bodyPr>
          <a:lstStyle/>
          <a:p>
            <a:pPr algn="l"/>
            <a:r>
              <a:rPr sz="1250" b="0">
                <a:solidFill>
                  <a:srgbClr val="52514E"/>
                </a:solidFill>
                <a:latin typeface="Arial"/>
              </a:rPr>
              <a:t>Chase the ₦1.60B of 2023–2024 invoices this quarter, take a deposit at booking, and charge for postponements.</a:t>
            </a:r>
          </a:p>
        </p:txBody>
      </p:sp>
      <p:sp>
        <p:nvSpPr>
          <p:cNvPr id="11" name="Rounded Rectangle 10"/>
          <p:cNvSpPr/>
          <p:nvPr/>
        </p:nvSpPr>
        <p:spPr>
          <a:xfrm>
            <a:off x="548640" y="2569464"/>
            <a:ext cx="11064240" cy="896112"/>
          </a:xfrm>
          <a:prstGeom prst="roundRect">
            <a:avLst>
              <a:gd name="adj" fmla="val 12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660904"/>
            <a:ext cx="457200" cy="713232"/>
          </a:xfrm>
          <a:prstGeom prst="rect">
            <a:avLst/>
          </a:prstGeom>
          <a:noFill/>
        </p:spPr>
        <p:txBody>
          <a:bodyPr wrap="square" anchor="ctr" lIns="18288" rIns="18288" tIns="18288" bIns="18288">
            <a:spAutoFit/>
          </a:bodyPr>
          <a:lstStyle/>
          <a:p>
            <a:pPr algn="l"/>
            <a:r>
              <a:rPr sz="2600" b="1">
                <a:solidFill>
                  <a:srgbClr val="2A78D6"/>
                </a:solidFill>
                <a:latin typeface="Arial"/>
              </a:rPr>
              <a:t>2</a:t>
            </a:r>
          </a:p>
        </p:txBody>
      </p:sp>
      <p:sp>
        <p:nvSpPr>
          <p:cNvPr id="13" name="TextBox 12"/>
          <p:cNvSpPr txBox="1"/>
          <p:nvPr/>
        </p:nvSpPr>
        <p:spPr>
          <a:xfrm>
            <a:off x="1325880" y="2642616"/>
            <a:ext cx="10058400" cy="320040"/>
          </a:xfrm>
          <a:prstGeom prst="rect">
            <a:avLst/>
          </a:prstGeom>
          <a:noFill/>
        </p:spPr>
        <p:txBody>
          <a:bodyPr wrap="square" anchor="t" lIns="18288" rIns="18288" tIns="18288" bIns="18288">
            <a:spAutoFit/>
          </a:bodyPr>
          <a:lstStyle/>
          <a:p>
            <a:pPr algn="l"/>
            <a:r>
              <a:rPr sz="1600" b="1">
                <a:solidFill>
                  <a:srgbClr val="0B0B0B"/>
                </a:solidFill>
                <a:latin typeface="Arial"/>
              </a:rPr>
              <a:t>Price in dollars where you can.</a:t>
            </a:r>
          </a:p>
        </p:txBody>
      </p:sp>
      <p:sp>
        <p:nvSpPr>
          <p:cNvPr id="14" name="TextBox 13"/>
          <p:cNvSpPr txBox="1"/>
          <p:nvPr/>
        </p:nvSpPr>
        <p:spPr>
          <a:xfrm>
            <a:off x="1325880" y="2953512"/>
            <a:ext cx="10058400" cy="475488"/>
          </a:xfrm>
          <a:prstGeom prst="rect">
            <a:avLst/>
          </a:prstGeom>
          <a:noFill/>
        </p:spPr>
        <p:txBody>
          <a:bodyPr wrap="square" anchor="t" lIns="18288" rIns="18288" tIns="18288" bIns="18288">
            <a:spAutoFit/>
          </a:bodyPr>
          <a:lstStyle/>
          <a:p>
            <a:pPr algn="l"/>
            <a:r>
              <a:rPr sz="1250" b="0">
                <a:solidFill>
                  <a:srgbClr val="52514E"/>
                </a:solidFill>
                <a:latin typeface="Arial"/>
              </a:rPr>
              <a:t>Quote Commercial, Music Video and international clients in USD or with an exchange-rate clause; it is the one lever that grew in value as the naira fell.</a:t>
            </a:r>
          </a:p>
        </p:txBody>
      </p:sp>
      <p:sp>
        <p:nvSpPr>
          <p:cNvPr id="15" name="Rounded Rectangle 14"/>
          <p:cNvSpPr/>
          <p:nvPr/>
        </p:nvSpPr>
        <p:spPr>
          <a:xfrm>
            <a:off x="548640" y="3538728"/>
            <a:ext cx="11064240" cy="896112"/>
          </a:xfrm>
          <a:prstGeom prst="roundRect">
            <a:avLst>
              <a:gd name="adj" fmla="val 12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630168"/>
            <a:ext cx="457200" cy="713232"/>
          </a:xfrm>
          <a:prstGeom prst="rect">
            <a:avLst/>
          </a:prstGeom>
          <a:noFill/>
        </p:spPr>
        <p:txBody>
          <a:bodyPr wrap="square" anchor="ctr" lIns="18288" rIns="18288" tIns="18288" bIns="18288">
            <a:spAutoFit/>
          </a:bodyPr>
          <a:lstStyle/>
          <a:p>
            <a:pPr algn="l"/>
            <a:r>
              <a:rPr sz="2600" b="1">
                <a:solidFill>
                  <a:srgbClr val="2A78D6"/>
                </a:solidFill>
                <a:latin typeface="Arial"/>
              </a:rPr>
              <a:t>3</a:t>
            </a:r>
          </a:p>
        </p:txBody>
      </p:sp>
      <p:sp>
        <p:nvSpPr>
          <p:cNvPr id="17" name="TextBox 16"/>
          <p:cNvSpPr txBox="1"/>
          <p:nvPr/>
        </p:nvSpPr>
        <p:spPr>
          <a:xfrm>
            <a:off x="1325880" y="3611880"/>
            <a:ext cx="10058400" cy="320040"/>
          </a:xfrm>
          <a:prstGeom prst="rect">
            <a:avLst/>
          </a:prstGeom>
          <a:noFill/>
        </p:spPr>
        <p:txBody>
          <a:bodyPr wrap="square" anchor="t" lIns="18288" rIns="18288" tIns="18288" bIns="18288">
            <a:spAutoFit/>
          </a:bodyPr>
          <a:lstStyle/>
          <a:p>
            <a:pPr algn="l"/>
            <a:r>
              <a:rPr sz="1600" b="1">
                <a:solidFill>
                  <a:srgbClr val="0B0B0B"/>
                </a:solidFill>
                <a:latin typeface="Arial"/>
              </a:rPr>
              <a:t>Fix or drop loss-making jobs.</a:t>
            </a:r>
          </a:p>
        </p:txBody>
      </p:sp>
      <p:sp>
        <p:nvSpPr>
          <p:cNvPr id="18" name="TextBox 17"/>
          <p:cNvSpPr txBox="1"/>
          <p:nvPr/>
        </p:nvSpPr>
        <p:spPr>
          <a:xfrm>
            <a:off x="1325880" y="3922776"/>
            <a:ext cx="10058400" cy="475488"/>
          </a:xfrm>
          <a:prstGeom prst="rect">
            <a:avLst/>
          </a:prstGeom>
          <a:noFill/>
        </p:spPr>
        <p:txBody>
          <a:bodyPr wrap="square" anchor="t" lIns="18288" rIns="18288" tIns="18288" bIns="18288">
            <a:spAutoFit/>
          </a:bodyPr>
          <a:lstStyle/>
          <a:p>
            <a:pPr algn="l"/>
            <a:r>
              <a:rPr sz="1250" b="0">
                <a:solidFill>
                  <a:srgbClr val="52514E"/>
                </a:solidFill>
                <a:latin typeface="Arial"/>
              </a:rPr>
              <a:t>Set a minimum price or a crew cap for Studio Rental and Photoshoot so no job costs more in crew than it earns.</a:t>
            </a:r>
          </a:p>
        </p:txBody>
      </p:sp>
      <p:sp>
        <p:nvSpPr>
          <p:cNvPr id="19" name="Rounded Rectangle 18"/>
          <p:cNvSpPr/>
          <p:nvPr/>
        </p:nvSpPr>
        <p:spPr>
          <a:xfrm>
            <a:off x="548640" y="4507992"/>
            <a:ext cx="11064240" cy="896112"/>
          </a:xfrm>
          <a:prstGeom prst="roundRect">
            <a:avLst>
              <a:gd name="adj" fmla="val 12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599432"/>
            <a:ext cx="457200" cy="713232"/>
          </a:xfrm>
          <a:prstGeom prst="rect">
            <a:avLst/>
          </a:prstGeom>
          <a:noFill/>
        </p:spPr>
        <p:txBody>
          <a:bodyPr wrap="square" anchor="ctr" lIns="18288" rIns="18288" tIns="18288" bIns="18288">
            <a:spAutoFit/>
          </a:bodyPr>
          <a:lstStyle/>
          <a:p>
            <a:pPr algn="l"/>
            <a:r>
              <a:rPr sz="2600" b="1">
                <a:solidFill>
                  <a:srgbClr val="2A78D6"/>
                </a:solidFill>
                <a:latin typeface="Arial"/>
              </a:rPr>
              <a:t>4</a:t>
            </a:r>
          </a:p>
        </p:txBody>
      </p:sp>
      <p:sp>
        <p:nvSpPr>
          <p:cNvPr id="21" name="TextBox 20"/>
          <p:cNvSpPr txBox="1"/>
          <p:nvPr/>
        </p:nvSpPr>
        <p:spPr>
          <a:xfrm>
            <a:off x="1325880" y="4581144"/>
            <a:ext cx="10058400" cy="320040"/>
          </a:xfrm>
          <a:prstGeom prst="rect">
            <a:avLst/>
          </a:prstGeom>
          <a:noFill/>
        </p:spPr>
        <p:txBody>
          <a:bodyPr wrap="square" anchor="t" lIns="18288" rIns="18288" tIns="18288" bIns="18288">
            <a:spAutoFit/>
          </a:bodyPr>
          <a:lstStyle/>
          <a:p>
            <a:pPr algn="l"/>
            <a:r>
              <a:rPr sz="1600" b="1">
                <a:solidFill>
                  <a:srgbClr val="0B0B0B"/>
                </a:solidFill>
                <a:latin typeface="Arial"/>
              </a:rPr>
              <a:t>Test the ads before spending more.</a:t>
            </a:r>
          </a:p>
        </p:txBody>
      </p:sp>
      <p:sp>
        <p:nvSpPr>
          <p:cNvPr id="22" name="TextBox 21"/>
          <p:cNvSpPr txBox="1"/>
          <p:nvPr/>
        </p:nvSpPr>
        <p:spPr>
          <a:xfrm>
            <a:off x="1325880" y="4892040"/>
            <a:ext cx="10058400" cy="475488"/>
          </a:xfrm>
          <a:prstGeom prst="rect">
            <a:avLst/>
          </a:prstGeom>
          <a:noFill/>
        </p:spPr>
        <p:txBody>
          <a:bodyPr wrap="square" anchor="t" lIns="18288" rIns="18288" tIns="18288" bIns="18288">
            <a:spAutoFit/>
          </a:bodyPr>
          <a:lstStyle/>
          <a:p>
            <a:pPr algn="l"/>
            <a:r>
              <a:rPr sz="1250" b="0">
                <a:solidFill>
                  <a:srgbClr val="52514E"/>
                </a:solidFill>
                <a:latin typeface="Arial"/>
              </a:rPr>
              <a:t>Add 'which ad?' and tracked links to the booking form, give influencers codes, and pause YouTube and Email (the weakest measured returns, ₦294M of spend so far) for eight weeks to see whether bookings move.</a:t>
            </a:r>
          </a:p>
        </p:txBody>
      </p:sp>
      <p:sp>
        <p:nvSpPr>
          <p:cNvPr id="23" name="Rounded Rectangle 22"/>
          <p:cNvSpPr/>
          <p:nvPr/>
        </p:nvSpPr>
        <p:spPr>
          <a:xfrm>
            <a:off x="548640" y="5477256"/>
            <a:ext cx="11064240" cy="896112"/>
          </a:xfrm>
          <a:prstGeom prst="roundRect">
            <a:avLst>
              <a:gd name="adj" fmla="val 12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68696"/>
            <a:ext cx="457200" cy="713232"/>
          </a:xfrm>
          <a:prstGeom prst="rect">
            <a:avLst/>
          </a:prstGeom>
          <a:noFill/>
        </p:spPr>
        <p:txBody>
          <a:bodyPr wrap="square" anchor="ctr" lIns="18288" rIns="18288" tIns="18288" bIns="18288">
            <a:spAutoFit/>
          </a:bodyPr>
          <a:lstStyle/>
          <a:p>
            <a:pPr algn="l"/>
            <a:r>
              <a:rPr sz="2600" b="1">
                <a:solidFill>
                  <a:srgbClr val="2A78D6"/>
                </a:solidFill>
                <a:latin typeface="Arial"/>
              </a:rPr>
              <a:t>5</a:t>
            </a:r>
          </a:p>
        </p:txBody>
      </p:sp>
      <p:sp>
        <p:nvSpPr>
          <p:cNvPr id="25" name="TextBox 24"/>
          <p:cNvSpPr txBox="1"/>
          <p:nvPr/>
        </p:nvSpPr>
        <p:spPr>
          <a:xfrm>
            <a:off x="1325880" y="5550408"/>
            <a:ext cx="10058400" cy="320040"/>
          </a:xfrm>
          <a:prstGeom prst="rect">
            <a:avLst/>
          </a:prstGeom>
          <a:noFill/>
        </p:spPr>
        <p:txBody>
          <a:bodyPr wrap="square" anchor="t" lIns="18288" rIns="18288" tIns="18288" bIns="18288">
            <a:spAutoFit/>
          </a:bodyPr>
          <a:lstStyle/>
          <a:p>
            <a:pPr algn="l"/>
            <a:r>
              <a:rPr sz="1600" b="1">
                <a:solidFill>
                  <a:srgbClr val="0B0B0B"/>
                </a:solidFill>
                <a:latin typeface="Arial"/>
              </a:rPr>
              <a:t>Book November–December crew in September.</a:t>
            </a:r>
          </a:p>
        </p:txBody>
      </p:sp>
      <p:sp>
        <p:nvSpPr>
          <p:cNvPr id="26" name="TextBox 25"/>
          <p:cNvSpPr txBox="1"/>
          <p:nvPr/>
        </p:nvSpPr>
        <p:spPr>
          <a:xfrm>
            <a:off x="1325880" y="5861304"/>
            <a:ext cx="10058400" cy="475488"/>
          </a:xfrm>
          <a:prstGeom prst="rect">
            <a:avLst/>
          </a:prstGeom>
          <a:noFill/>
        </p:spPr>
        <p:txBody>
          <a:bodyPr wrap="square" anchor="t" lIns="18288" rIns="18288" tIns="18288" bIns="18288">
            <a:spAutoFit/>
          </a:bodyPr>
          <a:lstStyle/>
          <a:p>
            <a:pPr algn="l"/>
            <a:r>
              <a:rPr sz="1250" b="0">
                <a:solidFill>
                  <a:srgbClr val="52514E"/>
                </a:solidFill>
                <a:latin typeface="Arial"/>
              </a:rPr>
              <a:t>Double bookings cluster in the peak; confirm freelancers early.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What could change the answer</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Read these before quoting any number outside this room.</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15</a:t>
            </a:r>
          </a:p>
        </p:txBody>
      </p:sp>
      <p:sp>
        <p:nvSpPr>
          <p:cNvPr id="7" name="TextBox 6"/>
          <p:cNvSpPr txBox="1"/>
          <p:nvPr/>
        </p:nvSpPr>
        <p:spPr>
          <a:xfrm>
            <a:off x="548640" y="1645920"/>
            <a:ext cx="11064240" cy="4389120"/>
          </a:xfrm>
          <a:prstGeom prst="rect">
            <a:avLst/>
          </a:prstGeom>
          <a:noFill/>
        </p:spPr>
        <p:txBody>
          <a:bodyPr wrap="square" anchor="t" lIns="18288" rIns="18288" tIns="18288" bIns="18288">
            <a:spAutoFit/>
          </a:bodyPr>
          <a:lstStyle/>
          <a:p>
            <a:pPr algn="l">
              <a:spcAft>
                <a:spcPts val="1400"/>
              </a:spcAft>
            </a:pPr>
            <a:r>
              <a:rPr sz="1700" b="0">
                <a:solidFill>
                  <a:srgbClr val="0B0B0B"/>
                </a:solidFill>
                <a:latin typeface="Arial"/>
              </a:rPr>
              <a:t>•  No rent, equipment, salary, tax or bank data was provided. The cash explanation is an inference from what is missing, not a measurement; the bank statement would confirm or overturn it.</a:t>
            </a:r>
          </a:p>
          <a:p>
            <a:pPr algn="l">
              <a:spcAft>
                <a:spcPts val="1400"/>
              </a:spcAft>
            </a:pPr>
            <a:r>
              <a:rPr sz="1700" b="0">
                <a:solidFill>
                  <a:srgbClr val="0B0B0B"/>
                </a:solidFill>
                <a:latin typeface="Arial"/>
              </a:rPr>
              <a:t>•  Job status is a snapshot from mid-2025. 'Invoiced' is read as billed but unpaid; if finance marks paid invoices differently, the uncollected figure falls.</a:t>
            </a:r>
          </a:p>
          <a:p>
            <a:pPr algn="l">
              <a:spcAft>
                <a:spcPts val="1400"/>
              </a:spcAft>
            </a:pPr>
            <a:r>
              <a:rPr sz="1700" b="0">
                <a:solidFill>
                  <a:srgbClr val="0B0B0B"/>
                </a:solidFill>
                <a:latin typeface="Arial"/>
              </a:rPr>
              <a:t>•  6.9% of revenue (₦1.44B) is touched by data problems that could not be resolved, mostly 107 non-cancelled jobs with no service type. ₦3.87B of bookings have no lead source.</a:t>
            </a:r>
          </a:p>
          <a:p>
            <a:pPr algn="l">
              <a:spcAft>
                <a:spcPts val="1400"/>
              </a:spcAft>
            </a:pPr>
            <a:r>
              <a:rPr sz="1700" b="0">
                <a:solidFill>
                  <a:srgbClr val="0B0B0B"/>
                </a:solidFill>
                <a:latin typeface="Arial"/>
              </a:rPr>
              <a:t>•  Merch revenue counts Pending orders (₦302M); if they never ship, merch revenue is that much lower.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nchor="t" lIns="18288" rIns="18288" tIns="18288" bIns="18288">
            <a:spAutoFit/>
          </a:bodyPr>
          <a:lstStyle/>
          <a:p>
            <a:pPr algn="l"/>
            <a:r>
              <a:rPr sz="2800" b="1">
                <a:solidFill>
                  <a:srgbClr val="0B0B0B"/>
                </a:solidFill>
                <a:latin typeface="Arial"/>
              </a:rPr>
              <a:t>How this was built</a:t>
            </a:r>
          </a:p>
        </p:txBody>
      </p:sp>
      <p:sp>
        <p:nvSpPr>
          <p:cNvPr id="4" name="TextBox 3"/>
          <p:cNvSpPr txBox="1"/>
          <p:nvPr/>
        </p:nvSpPr>
        <p:spPr>
          <a:xfrm>
            <a:off x="548640" y="960120"/>
            <a:ext cx="11064240" cy="457200"/>
          </a:xfrm>
          <a:prstGeom prst="rect">
            <a:avLst/>
          </a:prstGeom>
          <a:noFill/>
        </p:spPr>
        <p:txBody>
          <a:bodyPr wrap="square" anchor="t" lIns="18288" rIns="18288" tIns="18288" bIns="18288">
            <a:spAutoFit/>
          </a:bodyPr>
          <a:lstStyle/>
          <a:p>
            <a:pPr algn="l"/>
            <a:r>
              <a:rPr sz="1500" b="0">
                <a:solidFill>
                  <a:srgbClr val="52514E"/>
                </a:solidFill>
                <a:latin typeface="Arial"/>
              </a:rPr>
              <a:t>Every number is reproducible from the raw files with one command.</a:t>
            </a:r>
          </a:p>
        </p:txBody>
      </p:sp>
      <p:sp>
        <p:nvSpPr>
          <p:cNvPr id="5" name="TextBox 4"/>
          <p:cNvSpPr txBox="1"/>
          <p:nvPr/>
        </p:nvSpPr>
        <p:spPr>
          <a:xfrm>
            <a:off x="548640" y="6419088"/>
            <a:ext cx="7315200" cy="274320"/>
          </a:xfrm>
          <a:prstGeom prst="rect">
            <a:avLst/>
          </a:prstGeom>
          <a:noFill/>
        </p:spPr>
        <p:txBody>
          <a:bodyPr wrap="square" anchor="t" lIns="18288" rIns="18288" tIns="18288" bIns="18288">
            <a:spAutoFit/>
          </a:bodyPr>
          <a:lstStyle/>
          <a:p>
            <a:pPr algn="l"/>
            <a:r>
              <a:rPr sz="900" b="0">
                <a:solidFill>
                  <a:srgbClr val="898781"/>
                </a:solidFill>
                <a:latin typeface="Arial"/>
              </a:rPr>
              <a:t>Xtrim Studios · Commercial review 2023 – H1 2025 · all money in naira (₦)</a:t>
            </a:r>
          </a:p>
        </p:txBody>
      </p:sp>
      <p:sp>
        <p:nvSpPr>
          <p:cNvPr id="6" name="TextBox 5"/>
          <p:cNvSpPr txBox="1"/>
          <p:nvPr/>
        </p:nvSpPr>
        <p:spPr>
          <a:xfrm>
            <a:off x="10972800" y="6419088"/>
            <a:ext cx="667512" cy="274320"/>
          </a:xfrm>
          <a:prstGeom prst="rect">
            <a:avLst/>
          </a:prstGeom>
          <a:noFill/>
        </p:spPr>
        <p:txBody>
          <a:bodyPr wrap="square" anchor="t" lIns="18288" rIns="18288" tIns="18288" bIns="18288">
            <a:spAutoFit/>
          </a:bodyPr>
          <a:lstStyle/>
          <a:p>
            <a:pPr algn="r"/>
            <a:r>
              <a:rPr sz="900" b="0">
                <a:solidFill>
                  <a:srgbClr val="898781"/>
                </a:solidFill>
                <a:latin typeface="Arial"/>
              </a:rPr>
              <a:t>16</a:t>
            </a:r>
          </a:p>
        </p:txBody>
      </p:sp>
      <p:sp>
        <p:nvSpPr>
          <p:cNvPr id="7" name="Rounded Rectangle 6"/>
          <p:cNvSpPr/>
          <p:nvPr/>
        </p:nvSpPr>
        <p:spPr>
          <a:xfrm>
            <a:off x="548640" y="2194560"/>
            <a:ext cx="1691640" cy="1737360"/>
          </a:xfrm>
          <a:prstGeom prst="roundRect">
            <a:avLst>
              <a:gd name="adj" fmla="val 10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31720"/>
            <a:ext cx="1417320" cy="457200"/>
          </a:xfrm>
          <a:prstGeom prst="rect">
            <a:avLst/>
          </a:prstGeom>
          <a:noFill/>
        </p:spPr>
        <p:txBody>
          <a:bodyPr wrap="square" anchor="t" lIns="18288" rIns="18288" tIns="18288" bIns="18288">
            <a:spAutoFit/>
          </a:bodyPr>
          <a:lstStyle/>
          <a:p>
            <a:pPr algn="l"/>
            <a:r>
              <a:rPr sz="1800" b="1">
                <a:solidFill>
                  <a:srgbClr val="FCFCFB"/>
                </a:solidFill>
                <a:latin typeface="Arial"/>
              </a:rPr>
              <a:t>Raw</a:t>
            </a:r>
          </a:p>
        </p:txBody>
      </p:sp>
      <p:sp>
        <p:nvSpPr>
          <p:cNvPr id="9" name="TextBox 8"/>
          <p:cNvSpPr txBox="1"/>
          <p:nvPr/>
        </p:nvSpPr>
        <p:spPr>
          <a:xfrm>
            <a:off x="685800" y="2834640"/>
            <a:ext cx="1417320" cy="1005840"/>
          </a:xfrm>
          <a:prstGeom prst="rect">
            <a:avLst/>
          </a:prstGeom>
          <a:noFill/>
        </p:spPr>
        <p:txBody>
          <a:bodyPr wrap="square" anchor="t" lIns="18288" rIns="18288" tIns="18288" bIns="18288">
            <a:spAutoFit/>
          </a:bodyPr>
          <a:lstStyle/>
          <a:p>
            <a:pPr algn="l"/>
            <a:r>
              <a:rPr sz="1200" b="0">
                <a:solidFill>
                  <a:srgbClr val="FCFCFB"/>
                </a:solidFill>
                <a:latin typeface="Arial"/>
              </a:rPr>
              <a:t>14 files</a:t>
            </a:r>
          </a:p>
          <a:p>
            <a:pPr algn="l"/>
            <a:r>
              <a:rPr sz="1200" b="0">
                <a:solidFill>
                  <a:srgbClr val="FCFCFB"/>
                </a:solidFill>
                <a:latin typeface="Arial"/>
              </a:rPr>
              <a:t>282,171 rows</a:t>
            </a:r>
          </a:p>
        </p:txBody>
      </p:sp>
      <p:sp>
        <p:nvSpPr>
          <p:cNvPr id="10" name="Right Arrow 9"/>
          <p:cNvSpPr/>
          <p:nvPr/>
        </p:nvSpPr>
        <p:spPr>
          <a:xfrm>
            <a:off x="2267712" y="2971800"/>
            <a:ext cx="128016" cy="18288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23160" y="2194560"/>
            <a:ext cx="1691640" cy="1737360"/>
          </a:xfrm>
          <a:prstGeom prst="roundRect">
            <a:avLst>
              <a:gd name="adj" fmla="val 10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2331720"/>
            <a:ext cx="1417320" cy="457200"/>
          </a:xfrm>
          <a:prstGeom prst="rect">
            <a:avLst/>
          </a:prstGeom>
          <a:noFill/>
        </p:spPr>
        <p:txBody>
          <a:bodyPr wrap="square" anchor="t" lIns="18288" rIns="18288" tIns="18288" bIns="18288">
            <a:spAutoFit/>
          </a:bodyPr>
          <a:lstStyle/>
          <a:p>
            <a:pPr algn="l"/>
            <a:r>
              <a:rPr sz="1800" b="1">
                <a:solidFill>
                  <a:srgbClr val="0B0B0B"/>
                </a:solidFill>
                <a:latin typeface="Arial"/>
              </a:rPr>
              <a:t>Clean</a:t>
            </a:r>
          </a:p>
        </p:txBody>
      </p:sp>
      <p:sp>
        <p:nvSpPr>
          <p:cNvPr id="13" name="TextBox 12"/>
          <p:cNvSpPr txBox="1"/>
          <p:nvPr/>
        </p:nvSpPr>
        <p:spPr>
          <a:xfrm>
            <a:off x="2560320" y="2834640"/>
            <a:ext cx="1417320" cy="1005840"/>
          </a:xfrm>
          <a:prstGeom prst="rect">
            <a:avLst/>
          </a:prstGeom>
          <a:noFill/>
        </p:spPr>
        <p:txBody>
          <a:bodyPr wrap="square" anchor="t" lIns="18288" rIns="18288" tIns="18288" bIns="18288">
            <a:spAutoFit/>
          </a:bodyPr>
          <a:lstStyle/>
          <a:p>
            <a:pPr algn="l"/>
            <a:r>
              <a:rPr sz="1200" b="0">
                <a:solidFill>
                  <a:srgbClr val="52514E"/>
                </a:solidFill>
                <a:latin typeface="Arial"/>
              </a:rPr>
              <a:t>Python pipeline</a:t>
            </a:r>
          </a:p>
          <a:p>
            <a:pPr algn="l"/>
            <a:r>
              <a:rPr sz="1200" b="0">
                <a:solidFill>
                  <a:srgbClr val="52514E"/>
                </a:solidFill>
                <a:latin typeface="Arial"/>
              </a:rPr>
              <a:t>93/93 validation checks</a:t>
            </a:r>
          </a:p>
        </p:txBody>
      </p:sp>
      <p:sp>
        <p:nvSpPr>
          <p:cNvPr id="14" name="Right Arrow 13"/>
          <p:cNvSpPr/>
          <p:nvPr/>
        </p:nvSpPr>
        <p:spPr>
          <a:xfrm>
            <a:off x="4142232" y="2971800"/>
            <a:ext cx="128016" cy="18288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97680" y="2194560"/>
            <a:ext cx="1691640" cy="1737360"/>
          </a:xfrm>
          <a:prstGeom prst="roundRect">
            <a:avLst>
              <a:gd name="adj" fmla="val 10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331720"/>
            <a:ext cx="1417320" cy="457200"/>
          </a:xfrm>
          <a:prstGeom prst="rect">
            <a:avLst/>
          </a:prstGeom>
          <a:noFill/>
        </p:spPr>
        <p:txBody>
          <a:bodyPr wrap="square" anchor="t" lIns="18288" rIns="18288" tIns="18288" bIns="18288">
            <a:spAutoFit/>
          </a:bodyPr>
          <a:lstStyle/>
          <a:p>
            <a:pPr algn="l"/>
            <a:r>
              <a:rPr sz="1800" b="1">
                <a:solidFill>
                  <a:srgbClr val="0B0B0B"/>
                </a:solidFill>
                <a:latin typeface="Arial"/>
              </a:rPr>
              <a:t>Warehouse</a:t>
            </a:r>
          </a:p>
        </p:txBody>
      </p:sp>
      <p:sp>
        <p:nvSpPr>
          <p:cNvPr id="17" name="TextBox 16"/>
          <p:cNvSpPr txBox="1"/>
          <p:nvPr/>
        </p:nvSpPr>
        <p:spPr>
          <a:xfrm>
            <a:off x="4434840" y="2834640"/>
            <a:ext cx="1417320" cy="1005840"/>
          </a:xfrm>
          <a:prstGeom prst="rect">
            <a:avLst/>
          </a:prstGeom>
          <a:noFill/>
        </p:spPr>
        <p:txBody>
          <a:bodyPr wrap="square" anchor="t" lIns="18288" rIns="18288" tIns="18288" bIns="18288">
            <a:spAutoFit/>
          </a:bodyPr>
          <a:lstStyle/>
          <a:p>
            <a:pPr algn="l"/>
            <a:r>
              <a:rPr sz="1200" b="0">
                <a:solidFill>
                  <a:srgbClr val="52514E"/>
                </a:solidFill>
                <a:latin typeface="Arial"/>
              </a:rPr>
              <a:t>PostgreSQL star schema</a:t>
            </a:r>
          </a:p>
          <a:p>
            <a:pPr algn="l"/>
            <a:r>
              <a:rPr sz="1200" b="0">
                <a:solidFill>
                  <a:srgbClr val="52514E"/>
                </a:solidFill>
                <a:latin typeface="Arial"/>
              </a:rPr>
              <a:t>keys + constraints</a:t>
            </a:r>
          </a:p>
        </p:txBody>
      </p:sp>
      <p:sp>
        <p:nvSpPr>
          <p:cNvPr id="18" name="Right Arrow 17"/>
          <p:cNvSpPr/>
          <p:nvPr/>
        </p:nvSpPr>
        <p:spPr>
          <a:xfrm>
            <a:off x="6016752" y="2971800"/>
            <a:ext cx="128016" cy="18288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72200" y="2194560"/>
            <a:ext cx="1691640" cy="1737360"/>
          </a:xfrm>
          <a:prstGeom prst="roundRect">
            <a:avLst>
              <a:gd name="adj" fmla="val 10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331720"/>
            <a:ext cx="1417320" cy="457200"/>
          </a:xfrm>
          <a:prstGeom prst="rect">
            <a:avLst/>
          </a:prstGeom>
          <a:noFill/>
        </p:spPr>
        <p:txBody>
          <a:bodyPr wrap="square" anchor="t" lIns="18288" rIns="18288" tIns="18288" bIns="18288">
            <a:spAutoFit/>
          </a:bodyPr>
          <a:lstStyle/>
          <a:p>
            <a:pPr algn="l"/>
            <a:r>
              <a:rPr sz="1800" b="1">
                <a:solidFill>
                  <a:srgbClr val="0B0B0B"/>
                </a:solidFill>
                <a:latin typeface="Arial"/>
              </a:rPr>
              <a:t>Answer</a:t>
            </a:r>
          </a:p>
        </p:txBody>
      </p:sp>
      <p:sp>
        <p:nvSpPr>
          <p:cNvPr id="21" name="TextBox 20"/>
          <p:cNvSpPr txBox="1"/>
          <p:nvPr/>
        </p:nvSpPr>
        <p:spPr>
          <a:xfrm>
            <a:off x="6309360" y="2834640"/>
            <a:ext cx="1417320" cy="1005840"/>
          </a:xfrm>
          <a:prstGeom prst="rect">
            <a:avLst/>
          </a:prstGeom>
          <a:noFill/>
        </p:spPr>
        <p:txBody>
          <a:bodyPr wrap="square" anchor="t" lIns="18288" rIns="18288" tIns="18288" bIns="18288">
            <a:spAutoFit/>
          </a:bodyPr>
          <a:lstStyle/>
          <a:p>
            <a:pPr algn="l"/>
            <a:r>
              <a:rPr sz="1200" b="0">
                <a:solidFill>
                  <a:srgbClr val="52514E"/>
                </a:solidFill>
                <a:latin typeface="Arial"/>
              </a:rPr>
              <a:t>14 SQL questions</a:t>
            </a:r>
          </a:p>
          <a:p>
            <a:pPr algn="l"/>
            <a:r>
              <a:rPr sz="1200" b="0">
                <a:solidFill>
                  <a:srgbClr val="52514E"/>
                </a:solidFill>
                <a:latin typeface="Arial"/>
              </a:rPr>
              <a:t>results/*.csv</a:t>
            </a:r>
          </a:p>
        </p:txBody>
      </p:sp>
      <p:sp>
        <p:nvSpPr>
          <p:cNvPr id="22" name="Right Arrow 21"/>
          <p:cNvSpPr/>
          <p:nvPr/>
        </p:nvSpPr>
        <p:spPr>
          <a:xfrm>
            <a:off x="7891272" y="2971800"/>
            <a:ext cx="128016" cy="18288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0" y="2194560"/>
            <a:ext cx="1691640" cy="1737360"/>
          </a:xfrm>
          <a:prstGeom prst="roundRect">
            <a:avLst>
              <a:gd name="adj" fmla="val 10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2331720"/>
            <a:ext cx="1417320" cy="457200"/>
          </a:xfrm>
          <a:prstGeom prst="rect">
            <a:avLst/>
          </a:prstGeom>
          <a:noFill/>
        </p:spPr>
        <p:txBody>
          <a:bodyPr wrap="square" anchor="t" lIns="18288" rIns="18288" tIns="18288" bIns="18288">
            <a:spAutoFit/>
          </a:bodyPr>
          <a:lstStyle/>
          <a:p>
            <a:pPr algn="l"/>
            <a:r>
              <a:rPr sz="1800" b="1">
                <a:solidFill>
                  <a:srgbClr val="0B0B0B"/>
                </a:solidFill>
                <a:latin typeface="Arial"/>
              </a:rPr>
              <a:t>Analyse</a:t>
            </a:r>
          </a:p>
        </p:txBody>
      </p:sp>
      <p:sp>
        <p:nvSpPr>
          <p:cNvPr id="25" name="TextBox 24"/>
          <p:cNvSpPr txBox="1"/>
          <p:nvPr/>
        </p:nvSpPr>
        <p:spPr>
          <a:xfrm>
            <a:off x="8183880" y="2834640"/>
            <a:ext cx="1417320" cy="1005840"/>
          </a:xfrm>
          <a:prstGeom prst="rect">
            <a:avLst/>
          </a:prstGeom>
          <a:noFill/>
        </p:spPr>
        <p:txBody>
          <a:bodyPr wrap="square" anchor="t" lIns="18288" rIns="18288" tIns="18288" bIns="18288">
            <a:spAutoFit/>
          </a:bodyPr>
          <a:lstStyle/>
          <a:p>
            <a:pPr algn="l"/>
            <a:r>
              <a:rPr sz="1200" b="0">
                <a:solidFill>
                  <a:srgbClr val="52514E"/>
                </a:solidFill>
                <a:latin typeface="Arial"/>
              </a:rPr>
              <a:t>findings.json</a:t>
            </a:r>
          </a:p>
          <a:p>
            <a:pPr algn="l"/>
            <a:r>
              <a:rPr sz="1200" b="0">
                <a:solidFill>
                  <a:srgbClr val="52514E"/>
                </a:solidFill>
                <a:latin typeface="Arial"/>
              </a:rPr>
              <a:t>13 charts</a:t>
            </a:r>
          </a:p>
        </p:txBody>
      </p:sp>
      <p:sp>
        <p:nvSpPr>
          <p:cNvPr id="26" name="Right Arrow 25"/>
          <p:cNvSpPr/>
          <p:nvPr/>
        </p:nvSpPr>
        <p:spPr>
          <a:xfrm>
            <a:off x="9765792" y="2971800"/>
            <a:ext cx="128016" cy="18288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921240" y="2194560"/>
            <a:ext cx="1691640" cy="1737360"/>
          </a:xfrm>
          <a:prstGeom prst="roundRect">
            <a:avLst>
              <a:gd name="adj" fmla="val 10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0" y="2331720"/>
            <a:ext cx="1417320" cy="457200"/>
          </a:xfrm>
          <a:prstGeom prst="rect">
            <a:avLst/>
          </a:prstGeom>
          <a:noFill/>
        </p:spPr>
        <p:txBody>
          <a:bodyPr wrap="square" anchor="t" lIns="18288" rIns="18288" tIns="18288" bIns="18288">
            <a:spAutoFit/>
          </a:bodyPr>
          <a:lstStyle/>
          <a:p>
            <a:pPr algn="l"/>
            <a:r>
              <a:rPr sz="1800" b="1">
                <a:solidFill>
                  <a:srgbClr val="0B0B0B"/>
                </a:solidFill>
                <a:latin typeface="Arial"/>
              </a:rPr>
              <a:t>Deliver</a:t>
            </a:r>
          </a:p>
        </p:txBody>
      </p:sp>
      <p:sp>
        <p:nvSpPr>
          <p:cNvPr id="29" name="TextBox 28"/>
          <p:cNvSpPr txBox="1"/>
          <p:nvPr/>
        </p:nvSpPr>
        <p:spPr>
          <a:xfrm>
            <a:off x="10058400" y="2834640"/>
            <a:ext cx="1417320" cy="1005840"/>
          </a:xfrm>
          <a:prstGeom prst="rect">
            <a:avLst/>
          </a:prstGeom>
          <a:noFill/>
        </p:spPr>
        <p:txBody>
          <a:bodyPr wrap="square" anchor="t" lIns="18288" rIns="18288" tIns="18288" bIns="18288">
            <a:spAutoFit/>
          </a:bodyPr>
          <a:lstStyle/>
          <a:p>
            <a:pPr algn="l"/>
            <a:r>
              <a:rPr sz="1200" b="0">
                <a:solidFill>
                  <a:srgbClr val="52514E"/>
                </a:solidFill>
                <a:latin typeface="Arial"/>
              </a:rPr>
              <a:t>memo · deck · dashboard</a:t>
            </a:r>
          </a:p>
          <a:p>
            <a:pPr algn="l"/>
            <a:r>
              <a:rPr sz="1200" b="0">
                <a:solidFill>
                  <a:srgbClr val="52514E"/>
                </a:solidFill>
                <a:latin typeface="Arial"/>
              </a:rPr>
              <a:t>8/8 tie-out tests</a:t>
            </a:r>
          </a:p>
        </p:txBody>
      </p:sp>
      <p:sp>
        <p:nvSpPr>
          <p:cNvPr id="30" name="TextBox 29"/>
          <p:cNvSpPr txBox="1"/>
          <p:nvPr/>
        </p:nvSpPr>
        <p:spPr>
          <a:xfrm>
            <a:off x="548640" y="4389120"/>
            <a:ext cx="11064240" cy="1645920"/>
          </a:xfrm>
          <a:prstGeom prst="rect">
            <a:avLst/>
          </a:prstGeom>
          <a:noFill/>
        </p:spPr>
        <p:txBody>
          <a:bodyPr wrap="square" anchor="t" lIns="18288" rIns="18288" tIns="18288" bIns="18288">
            <a:spAutoFit/>
          </a:bodyPr>
          <a:lstStyle/>
          <a:p>
            <a:pPr algn="l"/>
            <a:r>
              <a:rPr sz="1400" b="0">
                <a:solidFill>
                  <a:srgbClr val="52514E"/>
                </a:solidFill>
                <a:latin typeface="Arial"/>
              </a:rPr>
              <a:t>•  Nothing in raw/ is edited by the pipeline; it reads raw_original_backup/ and every rejected row lands in quarantine with a reason.</a:t>
            </a:r>
          </a:p>
          <a:p>
            <a:pPr algn="l"/>
            <a:r>
              <a:rPr sz="1400" b="0">
                <a:solidFill>
                  <a:srgbClr val="52514E"/>
                </a:solidFill>
                <a:latin typeface="Arial"/>
              </a:rPr>
              <a:t>•  Every decision is logged with its evidence: cleaning_report/CLEANING_DECISIONS.md, warehouse/WAREHOUSE_DECISIONS.md.</a:t>
            </a:r>
          </a:p>
          <a:p>
            <a:pPr algn="l"/>
            <a:r>
              <a:rPr sz="1400" b="0">
                <a:solidFill>
                  <a:srgbClr val="52514E"/>
                </a:solidFill>
                <a:latin typeface="Arial"/>
              </a:rPr>
              <a:t>•  The dashboard (Production · Merch · Acquisition) reads the same warehouse and is tested to tie to the SQL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